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IEEE TRANSACTIONS ON INFORMATION FORENSICS AND SECURITY (VOL. 21,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F172A"/>
                </a:solidFill>
              </a:defRPr>
            </a:pPr>
            <a:r>
              <a:t>PRISM: A Multi-Agent Forensic Framework for</a:t>
            </a:r>
            <a:br/>
            <a:r>
              <a:t>Multimedia Provenance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via Dual-Stream Representation Learning and Dempster-Shafer Evidential Fusion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114800"/>
            <a:ext cx="9418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297680"/>
            <a:ext cx="8869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5803D"/>
                </a:solidFill>
              </a:defRPr>
            </a:pPr>
            <a:r>
              <a:t>Tanush Bhootra   |   Somil Jain   |   Kulsum Malik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937760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475569"/>
                </a:solidFill>
              </a:defRPr>
            </a:pPr>
            <a:r>
              <a:t>School of Computer Science and Engineering (SCOPE)</a:t>
            </a:r>
            <a:br/>
            <a:r>
              <a:t>Vellore Institute of Technology (VIT), Chennai, India</a:t>
            </a:r>
            <a:br/>
            <a:r>
              <a:t>Research Focus: Digital Forensics, Vision Transformers, and Multi-Modal Evidence 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MOTIVATION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Verification Impasse: Cryptographic Hashes vs Physical Reality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0" y="502920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Presenter: Tanush Bhootra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A8A"/>
                </a:solidFill>
              </a:defRPr>
            </a:pPr>
            <a:r>
              <a:t>The Limitation of Digital Custody Chains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NIST SP 800-86 Guidelines: </a:t>
            </a:r>
            <a:r>
              <a:rPr sz="1200">
                <a:solidFill>
                  <a:srgbClr val="475569"/>
                </a:solidFill>
              </a:rPr>
              <a:t>Conventional forensic evidence handling relies heavily on bit-level file hashes and cryptographic custody chains.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Transmission vs Physical Provenance: </a:t>
            </a:r>
            <a:r>
              <a:rPr sz="1200">
                <a:solidFill>
                  <a:srgbClr val="475569"/>
                </a:solidFill>
              </a:rPr>
              <a:t>A standard SHA-256 digest confirms that zero bits were altered during network transmission, but provides ZERO assurance regarding physical camera provenance.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The Forensic Impasse: </a:t>
            </a:r>
            <a:r>
              <a:rPr sz="1200">
                <a:solidFill>
                  <a:srgbClr val="475569"/>
                </a:solidFill>
              </a:rPr>
              <a:t>A cryptographically pristine, untampered media container can readily enclose a fully fabricated synthetic human persona.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Operational Risk: </a:t>
            </a:r>
            <a:r>
              <a:rPr sz="1200">
                <a:solidFill>
                  <a:srgbClr val="475569"/>
                </a:solidFill>
              </a:rPr>
              <a:t>Automated distribution channels (WhatsApp, Telegram) strip or normalize metadata, leaving investigators blind without physical signal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B45309"/>
                </a:solidFill>
              </a:defRPr>
            </a:pPr>
            <a:r>
              <a:t>Cross-Generator Collapse of Monolithic CNNs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Legacy Binary Classifiers: </a:t>
            </a:r>
            <a:r>
              <a:rPr sz="1200">
                <a:solidFill>
                  <a:srgbClr val="475569"/>
                </a:solidFill>
              </a:rPr>
              <a:t>Models such as MesoNet, XceptionNet, and EfficientNet frame forensics as pure RGB pixel-grid classification.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Catastrophic Generalization Drop: </a:t>
            </a:r>
            <a:r>
              <a:rPr sz="1200">
                <a:solidFill>
                  <a:srgbClr val="475569"/>
                </a:solidFill>
              </a:rPr>
              <a:t>XceptionNet trained on FaceForensics++ drops from 99.26% down to 65.27% AUC when evaluated on Celeb-DF v2 (a 34% drop!).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Compression Overfitting: </a:t>
            </a:r>
            <a:r>
              <a:rPr sz="1200">
                <a:solidFill>
                  <a:srgbClr val="475569"/>
                </a:solidFill>
              </a:rPr>
              <a:t>Deep networks overfit to dataset-specific compression quirks (e.g., C23 vs C40) rather than authenticating physical sensor properties.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Lack of Auditability: </a:t>
            </a:r>
            <a:r>
              <a:rPr sz="1200">
                <a:solidFill>
                  <a:srgbClr val="475569"/>
                </a:solidFill>
              </a:rPr>
              <a:t>Standard deep detectors emit uncalibrated scalar probabilities without uncertainty bounds suitable for Federal Rule of Evidence 702.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PRISM: Decoupled Multi-Agent Forensic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0" y="502920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Presenter: Tanush Bhootra</a:t>
            </a:r>
          </a:p>
        </p:txBody>
      </p:sp>
      <p:pic>
        <p:nvPicPr>
          <p:cNvPr id="7" name="Picture 6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16518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A8A"/>
                </a:solidFill>
              </a:defRPr>
            </a:pPr>
            <a:r>
              <a:t>Four Core Engineering Principles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Decoupled Micro-Agents: </a:t>
            </a:r>
            <a:r>
              <a:rPr sz="1200">
                <a:solidFill>
                  <a:srgbClr val="475569"/>
                </a:solidFill>
              </a:rPr>
              <a:t>Eight independent specialist evaluators examine physical, biological, spectral, and container metadata without inter-agent error cascading.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Dual-Stream Representation: </a:t>
            </a:r>
            <a:r>
              <a:rPr sz="1200">
                <a:solidFill>
                  <a:srgbClr val="475569"/>
                </a:solidFill>
              </a:rPr>
              <a:t>Couples high-level semantic tokens (ViT-DoRA) with low-level sensor noise residuals (PRNU wavelet stream).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Dempster-Shafer Fusion: </a:t>
            </a:r>
            <a:r>
              <a:rPr sz="1200">
                <a:solidFill>
                  <a:srgbClr val="475569"/>
                </a:solidFill>
              </a:rPr>
              <a:t>Replaces heuristic averaging with mathematical belief functions, explicitly isolating epistemic uncertainty under heavy compression.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Explainable Spatial Heatmaps: </a:t>
            </a:r>
            <a:r>
              <a:rPr sz="1200">
                <a:solidFill>
                  <a:srgbClr val="475569"/>
                </a:solidFill>
              </a:rPr>
              <a:t>A four-stage transposed-convolution decoder maps token features into a pixel-level 224x224 tampering probability surface.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Dual-Stream Representation: ViT-DoRA + Wavelet PRNU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0" y="502920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Presenter: Somil Jain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t>Stream 1: Vision Transformer with DoRA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Base Backbone: </a:t>
            </a:r>
            <a:r>
              <a:rPr sz="1200">
                <a:solidFill>
                  <a:srgbClr val="475569"/>
                </a:solidFill>
              </a:rPr>
              <a:t>ViT-B/16 pre-trained on ImageNet-21K with 196 non-overlapping 16x16 patch tokens projected to d=768.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Directional Adaptation (DoRA): </a:t>
            </a:r>
            <a:r>
              <a:rPr sz="1200">
                <a:solidFill>
                  <a:srgbClr val="475569"/>
                </a:solidFill>
              </a:rPr>
              <a:t>Decomposes pre-trained linear weight W0 into magnitude vector m and directional matrix V: W' = m * (V0 + deltaV) / ||V0 + deltaV||.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Parameter Efficiency: </a:t>
            </a:r>
            <a:r>
              <a:rPr sz="1200">
                <a:solidFill>
                  <a:srgbClr val="475569"/>
                </a:solidFill>
              </a:rPr>
              <a:t>Updates only 1.24M parameters out of 86.8M total (1.43% trainable fraction), preserving low-level visual priors.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Anti-Forgetting Manifold: </a:t>
            </a:r>
            <a:r>
              <a:rPr sz="1200">
                <a:solidFill>
                  <a:srgbClr val="475569"/>
                </a:solidFill>
              </a:rPr>
              <a:t>Empirically prevents catastrophic forgetting during fine-tuning on specialized forensic video corpora.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5803D"/>
                </a:solidFill>
              </a:defRPr>
            </a:pPr>
            <a:r>
              <a:t>Stream 2: Photo-Response Non-Uniformity (PRNU)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Hardware Invariant: </a:t>
            </a:r>
            <a:r>
              <a:rPr sz="1200">
                <a:solidFill>
                  <a:srgbClr val="475569"/>
                </a:solidFill>
              </a:rPr>
              <a:t>Microscopic silicon crystalline lattice flaws in imaging sensors imprint a unique, deterministic noise pattern across authentic exposures.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Wavelet Extraction: </a:t>
            </a:r>
            <a:r>
              <a:rPr sz="1200">
                <a:solidFill>
                  <a:srgbClr val="475569"/>
                </a:solidFill>
              </a:rPr>
              <a:t>Extracted via four-level Daubechies-4 wavelet decomposition followed by per-channel Wiener noise filtering: W_hat = I - F(I).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Generator Blindspot: </a:t>
            </a:r>
            <a:r>
              <a:rPr sz="1200">
                <a:solidFill>
                  <a:srgbClr val="475569"/>
                </a:solidFill>
              </a:rPr>
              <a:t>GANs and diffusion models lack hardware sensor noise; synthetic face patches instead carry periodic upsampling convolution residuals.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Embedding Fusion: </a:t>
            </a:r>
            <a:r>
              <a:rPr sz="1200">
                <a:solidFill>
                  <a:srgbClr val="475569"/>
                </a:solidFill>
              </a:rPr>
              <a:t>Globally average-pooled to 512-D and projected to d=768 token dimension alongside the ViT class token.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FORENSIC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Eight Specialized Forensic Micro-Agents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0" y="502920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Presenter: Somil Jain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1. Illumination Agent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Estimates 3D light vectors for facial ROI and scene using Sobel gradient integration; detects angle mismatches &gt; 35 degrees.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2. Corneal Reflection Agent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Detects pupil specular glints on HSV V-channel; verifies binocular stereo geometry across both eyes.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5803D"/>
                </a:solidFill>
              </a:defRPr>
            </a:pPr>
            <a:r>
              <a:t>3. rPPG Biological Vitality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Extracts dermal blood volume pulse across 32 frames using CHROM chrominance subspace. AI faces lack cardiovascular pulse.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5803D"/>
                </a:solidFill>
              </a:defRPr>
            </a:pPr>
            <a:r>
              <a:t>4. Lip-Sync &amp; Audio Agent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Correlates Mouth Aspect Ratio (MAR) with 64-channel log-mel acoustic energy envelope to expose voice reenactment desync.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45309"/>
                </a:solidFill>
              </a:defRPr>
            </a:pPr>
            <a:r>
              <a:t>5. Video Kinematics Agent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Dense Farneback optical flow detects frame-to-frame velocity jerks and inter-frame luminance flicker in face-swap seams.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45309"/>
                </a:solidFill>
              </a:defRPr>
            </a:pPr>
            <a:r>
              <a:t>6. Compression ELA Agent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Error Level Analysis (q=90) and 2D Hann-windowed FFT detect upsampling convolution grids and compression discontinuities.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7. Container Metadata Agent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Parses ISO/IEC 14496-12 atom trees and EXIF headers for encoder strings without reading file paths, preventing label leakage.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212080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8. Spatial Mask Decoder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Four-stage transposed-convolution decoder maps cross-stream tokens into a 224x224 pixel tampering heatmap.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DECISION CALCULUS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Mathematical Evidence Fusion: Dempster-Shafer Theory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0" y="502920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Presenter: Kulsum Malik</a:t>
            </a:r>
          </a:p>
        </p:txBody>
      </p:sp>
      <p:pic>
        <p:nvPicPr>
          <p:cNvPr id="7" name="Picture 6" descr="ds_fusion_inter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18050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A8A"/>
                </a:solidFill>
              </a:defRPr>
            </a:pPr>
            <a:r>
              <a:t>Evidential Fusion &amp; Zadeh Paradox Resolution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Frame of Discernment: </a:t>
            </a:r>
            <a:r>
              <a:rPr sz="1150">
                <a:solidFill>
                  <a:srgbClr val="475569"/>
                </a:solidFill>
              </a:rPr>
              <a:t>Theta = {Authentic, Tampered}. Power set 2^Theta includes empty set, singletons, and compound element Theta.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Epistemic Uncertainty: </a:t>
            </a:r>
            <a:r>
              <a:rPr sz="1150">
                <a:solidFill>
                  <a:srgbClr val="475569"/>
                </a:solidFill>
              </a:rPr>
              <a:t>Mass m(Theta) explicitly quantifies 'I do not know', isolating scenarios where evidence is degraded by social media compression.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BBA Construction: </a:t>
            </a:r>
            <a:r>
              <a:rPr sz="1150">
                <a:solidFill>
                  <a:srgbClr val="475569"/>
                </a:solidFill>
              </a:rPr>
              <a:t>Subjective logic mapping: m(T) = r*p / (r+W), m(A) = r*(1-p) / (r+W), m(Theta) = W / (r+W) with vacuous prior W=2.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Zadeh Paradox Resolution: </a:t>
            </a:r>
            <a:r>
              <a:rPr sz="1150">
                <a:solidFill>
                  <a:srgbClr val="475569"/>
                </a:solidFill>
              </a:rPr>
              <a:t>Under extreme conflict (K -&gt; 1.0), classical DST produces degenerate verdicts. PRISM bounds conflict at K_max = 0.99.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72A"/>
                </a:solidFill>
              </a:rPr>
              <a:t>• Pignistic Decision Rule: </a:t>
            </a:r>
            <a:r>
              <a:rPr sz="1150">
                <a:solidFill>
                  <a:srgbClr val="475569"/>
                </a:solidFill>
              </a:rPr>
              <a:t>p_hat(T) = m*(T) + 0.5 * m*(Theta). Issues AUTHENTIC (&lt; 0.35), TAMPERED (&gt; 0.65), or INCONCLUSIVE otherwise.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Quantitative Evaluation: State-of-the-Art Benchmark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0" y="502920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Presenter: Kulsum Malik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2011680"/>
                <a:gridCol w="201168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1E3A8A"/>
                          </a:solidFill>
                        </a:defRPr>
                      </a:pPr>
                      <a:r>
                        <a:t>Method / Architecture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1E3A8A"/>
                          </a:solidFill>
                        </a:defRPr>
                      </a:pPr>
                      <a:r>
                        <a:t>FF++ C23 AUC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1E3A8A"/>
                          </a:solidFill>
                        </a:defRPr>
                      </a:pPr>
                      <a:r>
                        <a:t>Celeb-DF v2 AUC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1E3A8A"/>
                          </a:solidFill>
                        </a:defRPr>
                      </a:pPr>
                      <a:r>
                        <a:t>Audio EER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1E3A8A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MesoNet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84.70%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54.80%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XceptionNet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99.26%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65.27%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FakeCatcher (rPPG)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91.10%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76.40%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Face X-ray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98.78%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79.51%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M2TR (Transformer)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99.49%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88.62%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TruFor (CVPR)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99.31%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91.23%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5803D"/>
                          </a:solidFill>
                        </a:defRPr>
                      </a:pPr>
                      <a:r>
                        <a:t>PRISM (Proposed)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803D"/>
                          </a:solidFill>
                        </a:defRPr>
                      </a:pPr>
                      <a:r>
                        <a:t>99.21%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803D"/>
                          </a:solidFill>
                        </a:defRPr>
                      </a:pPr>
                      <a:r>
                        <a:t>90.85%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803D"/>
                          </a:solidFill>
                        </a:defRPr>
                      </a:pPr>
                      <a:r>
                        <a:t>3.80%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803D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EDGE DEPLOYMENT &amp;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Edge Hardware Profiling &amp; Spatial Tampering Localization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0" y="502920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Presenter: Kulsum Malik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284C7"/>
                </a:solidFill>
              </a:defRPr>
            </a:pPr>
            <a:r>
              <a:t>62.76 ms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Mean Inference Latency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Well within 100 ms real-time triage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5803D"/>
                </a:solidFill>
              </a:defRPr>
            </a:pPr>
            <a:r>
              <a:t>1,450 MB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Peak VRAM Consumption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Fits easily into 6 GB laptop memory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B45309"/>
                </a:solidFill>
              </a:defRPr>
            </a:pPr>
            <a:r>
              <a:t>24.2 FPS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End-to-End Throughput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Real-time surveillance video inspection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E3A8A"/>
                </a:solidFill>
              </a:defRPr>
            </a:pPr>
            <a:r>
              <a:t>87 Tests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Automated Test Suite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100% verified regression and invariant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728655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Visual Explainability: Spatial Tampering Probability Heatmap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F172A"/>
                </a:solidFill>
              </a:rPr>
              <a:t>• Pixel-Level Localization: </a:t>
            </a:r>
            <a:r>
              <a:rPr sz="1200">
                <a:solidFill>
                  <a:srgbClr val="475569"/>
                </a:solidFill>
              </a:rPr>
              <a:t>The transposed-convolution decoder maps cross-stream token representations to a full 224x224 tampering probability map (mIoU = 0.784).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F172A"/>
                </a:solidFill>
              </a:rPr>
              <a:t>• Physical Boundary Verification: </a:t>
            </a:r>
            <a:r>
              <a:rPr sz="1200">
                <a:solidFill>
                  <a:srgbClr val="475569"/>
                </a:solidFill>
              </a:rPr>
              <a:t>Forensic examiners can visually audit that highlighted red regions correspond to physical tampering artifacts (facial blend boundaries, eye glints) rather than background noise.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F172A"/>
                </a:solidFill>
              </a:rPr>
              <a:t>• Federal Rule of Evidence 702: </a:t>
            </a:r>
            <a:r>
              <a:rPr sz="1200">
                <a:solidFill>
                  <a:srgbClr val="475569"/>
                </a:solidFill>
              </a:rPr>
              <a:t>Provides transparent error bounds, explicit uncertainty indices, and visual spatial proof satisfying legal courtroom admissibility criteria.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Conclusion &amp; NIST SP 800-86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0" y="502920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Presenter: Kulsum Malik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A8A"/>
                </a:solidFill>
              </a:defRPr>
            </a:pPr>
            <a:r>
              <a:t>Core Scientific Contributions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Multi-Agent Decoupling: </a:t>
            </a:r>
            <a:r>
              <a:rPr sz="1200">
                <a:solidFill>
                  <a:srgbClr val="475569"/>
                </a:solidFill>
              </a:rPr>
              <a:t>Replaces single-backbone fragility with eight decoupled specialist evaluators operating across independent physical domains.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Physics-Grounded Provenance: </a:t>
            </a:r>
            <a:r>
              <a:rPr sz="1200">
                <a:solidFill>
                  <a:srgbClr val="475569"/>
                </a:solidFill>
              </a:rPr>
              <a:t>DoRA ViT-B/16 + PRNU wavelet noise isolates genuine camera sensor crystalline signatures from neural generator residuals.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Calibrated Evidential Calculus: </a:t>
            </a:r>
            <a:r>
              <a:rPr sz="1200">
                <a:solidFill>
                  <a:srgbClr val="475569"/>
                </a:solidFill>
              </a:rPr>
              <a:t>Dempster-Shafer theory explicitly isolates epistemic ignorance and bounds inter-agent conflict (K_max = 0.99).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Real-World Edge Viability: </a:t>
            </a:r>
            <a:r>
              <a:rPr sz="1200">
                <a:solidFill>
                  <a:srgbClr val="475569"/>
                </a:solidFill>
              </a:rPr>
              <a:t>62.76 ms latency and 1,450 MB VRAM on consumer laptops (NVIDIA RTX 3050).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5803D"/>
                </a:solidFill>
              </a:defRPr>
            </a:pPr>
            <a:r>
              <a:t>Forensic Compliance &amp; Deliverables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NIST SP 800-86 JSON Dossier: </a:t>
            </a:r>
            <a:r>
              <a:rPr sz="1200">
                <a:solidFill>
                  <a:srgbClr val="475569"/>
                </a:solidFill>
              </a:rPr>
              <a:t>Automated compilation of tamper-evident, SHA-256 verifiable forensic reporting ready for forensic laboratories.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Verified Multimodal Benchmark: </a:t>
            </a:r>
            <a:r>
              <a:rPr sz="1200">
                <a:solidFill>
                  <a:srgbClr val="475569"/>
                </a:solidFill>
              </a:rPr>
              <a:t>Validated across an empirical cohort of N = 416 assets with 87 passing automated regression tests.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Reproducible Open Repository: </a:t>
            </a:r>
            <a:r>
              <a:rPr sz="1200">
                <a:solidFill>
                  <a:srgbClr val="475569"/>
                </a:solidFill>
              </a:rPr>
              <a:t>Complete PyTorch source code, models, and evaluation cohorts documented on GitHub.</a:t>
            </a:r>
          </a:p>
          <a:p>
            <a:pPr algn="ctr">
              <a:spcBef>
                <a:spcPts val="2000"/>
              </a:spcBef>
              <a:defRPr sz="1600" b="1">
                <a:solidFill>
                  <a:srgbClr val="1E3A8A"/>
                </a:solidFill>
              </a:defRPr>
            </a:pPr>
            <a:r>
              <a:t>Thank you!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